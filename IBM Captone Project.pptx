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p:notesSz cx="6858000" cy="185737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86447" autoAdjust="0"/>
  </p:normalViewPr>
  <p:slideViewPr>
    <p:cSldViewPr snapToGrid="0">
      <p:cViewPr varScale="1">
        <p:scale>
          <a:sx n="97" d="100"/>
          <a:sy n="97" d="100"/>
        </p:scale>
        <p:origin x="1184" y="224"/>
      </p:cViewPr>
      <p:guideLst>
        <p:guide orient="horz" pos="744"/>
        <p:guide pos="288"/>
      </p:guideLst>
    </p:cSldViewPr>
  </p:slideViewPr>
  <p:outlineViewPr>
    <p:cViewPr>
      <p:scale>
        <a:sx n="33" d="100"/>
        <a:sy n="33" d="100"/>
      </p:scale>
      <p:origin x="0" y="-2768"/>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544264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11</a:t>
            </a:fld>
            <a:endParaRPr lang="en-US"/>
          </a:p>
        </p:txBody>
      </p:sp>
    </p:spTree>
    <p:extLst>
      <p:ext uri="{BB962C8B-B14F-4D97-AF65-F5344CB8AC3E}">
        <p14:creationId xmlns:p14="http://schemas.microsoft.com/office/powerpoint/2010/main" val="21515044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svg"/><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hyperlink" Target="https://cf-courses-data.s3.us.cloud-object-storage.appdomain.cloud/HLOosvsPgIwt5dgOOh1RSg/survey-data-updated.csv"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3.xml"/><Relationship Id="rId1" Type="http://schemas.openxmlformats.org/officeDocument/2006/relationships/tags" Target="../tags/tag15.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7.xml"/><Relationship Id="rId5" Type="http://schemas.openxmlformats.org/officeDocument/2006/relationships/image" Target="../media/image15.jpe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3.xml"/><Relationship Id="rId1" Type="http://schemas.openxmlformats.org/officeDocument/2006/relationships/tags" Target="../tags/tag20.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3.xml"/><Relationship Id="rId1" Type="http://schemas.openxmlformats.org/officeDocument/2006/relationships/tags" Target="../tags/tag21.xml"/><Relationship Id="rId5" Type="http://schemas.openxmlformats.org/officeDocument/2006/relationships/image" Target="../media/image21.jpeg"/><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slideLayout" Target="../slideLayouts/slideLayout3.xml"/><Relationship Id="rId1" Type="http://schemas.openxmlformats.org/officeDocument/2006/relationships/tags" Target="../tags/tag22.xml"/><Relationship Id="rId4"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title"/>
          </p:nvPr>
        </p:nvSpPr>
        <p:spPr>
          <a:xfrm>
            <a:off x="838200" y="552162"/>
            <a:ext cx="10515600" cy="611620"/>
          </a:xfrm>
        </p:spPr>
        <p:txBody>
          <a:bodyPr anchor="ctr">
            <a:noAutofit/>
          </a:bodyPr>
          <a:lstStyle/>
          <a:p>
            <a:r>
              <a:rPr lang="en-US" dirty="0"/>
              <a:t>Software Trends Analysis</a:t>
            </a:r>
          </a:p>
        </p:txBody>
      </p:sp>
      <p:sp>
        <p:nvSpPr>
          <p:cNvPr id="3" name="Subtitle 2">
            <a:extLst>
              <a:ext uri="{FF2B5EF4-FFF2-40B4-BE49-F238E27FC236}">
                <a16:creationId xmlns:a16="http://schemas.microsoft.com/office/drawing/2014/main" id="{59DF6B8D-2BAC-11F8-7D28-B631D08C8D90}"/>
              </a:ext>
            </a:extLst>
          </p:cNvPr>
          <p:cNvSpPr>
            <a:spLocks noGrp="1"/>
          </p:cNvSpPr>
          <p:nvPr>
            <p:ph sz="half" idx="1"/>
          </p:nvPr>
        </p:nvSpPr>
        <p:spPr/>
        <p:txBody>
          <a:bodyPr>
            <a:normAutofit/>
          </a:bodyPr>
          <a:lstStyle/>
          <a:p>
            <a:pPr marL="0" indent="0">
              <a:buNone/>
            </a:pPr>
            <a:r>
              <a:rPr lang="en-US" dirty="0">
                <a:solidFill>
                  <a:schemeClr val="bg1">
                    <a:lumMod val="75000"/>
                  </a:schemeClr>
                </a:solidFill>
                <a:latin typeface="IBM Plex Mono Medium" panose="020B0609050203000203" pitchFamily="49" charset="0"/>
              </a:rPr>
              <a:t>Rithik Ganesan</a:t>
            </a:r>
          </a:p>
          <a:p>
            <a:pPr marL="0" indent="0">
              <a:buNone/>
            </a:pPr>
            <a:r>
              <a:rPr lang="en-US" dirty="0">
                <a:solidFill>
                  <a:schemeClr val="bg1">
                    <a:lumMod val="75000"/>
                  </a:schemeClr>
                </a:solidFill>
                <a:latin typeface="IBM Plex Mono Medium" panose="020B0609050203000203" pitchFamily="49" charset="0"/>
              </a:rPr>
              <a:t>4/5/2026 </a:t>
            </a:r>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4"/>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389349" y="1630528"/>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733926" y="2136507"/>
            <a:ext cx="3194581" cy="3194581"/>
          </a:xfrm>
          <a:prstGeom prst="rect">
            <a:avLst/>
          </a:prstGeom>
        </p:spPr>
      </p:pic>
      <p:sp>
        <p:nvSpPr>
          <p:cNvPr id="6" name="TextBox 5">
            <a:extLst>
              <a:ext uri="{FF2B5EF4-FFF2-40B4-BE49-F238E27FC236}">
                <a16:creationId xmlns:a16="http://schemas.microsoft.com/office/drawing/2014/main" id="{13338AC6-ABFF-2247-B168-A855B375CFAF}"/>
              </a:ext>
            </a:extLst>
          </p:cNvPr>
          <p:cNvSpPr txBox="1"/>
          <p:nvPr/>
        </p:nvSpPr>
        <p:spPr>
          <a:xfrm>
            <a:off x="1075602" y="1526912"/>
            <a:ext cx="11285731" cy="4465447"/>
          </a:xfrm>
          <a:prstGeom prst="rect">
            <a:avLst/>
          </a:prstGeom>
          <a:noFill/>
        </p:spPr>
        <p:txBody>
          <a:bodyPr wrap="square" rtlCol="0">
            <a:spAutoFit/>
          </a:bodyPr>
          <a:lstStyle/>
          <a:p>
            <a:endParaRPr lang="en-US" dirty="0"/>
          </a:p>
        </p:txBody>
      </p:sp>
      <p:sp>
        <p:nvSpPr>
          <p:cNvPr id="10" name="Content Placeholder 2">
            <a:extLst>
              <a:ext uri="{FF2B5EF4-FFF2-40B4-BE49-F238E27FC236}">
                <a16:creationId xmlns:a16="http://schemas.microsoft.com/office/drawing/2014/main" id="{9D3C647C-FE11-1338-CBAE-6D9E528796E2}"/>
              </a:ext>
            </a:extLst>
          </p:cNvPr>
          <p:cNvSpPr txBox="1">
            <a:spLocks/>
          </p:cNvSpPr>
          <p:nvPr/>
        </p:nvSpPr>
        <p:spPr>
          <a:xfrm rot="10800000">
            <a:off x="9826173" y="2358762"/>
            <a:ext cx="4791041" cy="137370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sp>
        <p:nvSpPr>
          <p:cNvPr id="11" name="Rectangle 2">
            <a:extLst>
              <a:ext uri="{FF2B5EF4-FFF2-40B4-BE49-F238E27FC236}">
                <a16:creationId xmlns:a16="http://schemas.microsoft.com/office/drawing/2014/main" id="{0435E66E-272D-C900-D112-EA490EFB9A47}"/>
              </a:ext>
            </a:extLst>
          </p:cNvPr>
          <p:cNvSpPr>
            <a:spLocks noChangeArrowheads="1"/>
          </p:cNvSpPr>
          <p:nvPr/>
        </p:nvSpPr>
        <p:spPr bwMode="auto">
          <a:xfrm rot="10800000" flipV="1">
            <a:off x="3928506" y="1677501"/>
            <a:ext cx="826349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developer technology landscape is dominated by a core set of established tools such as JavaScript, PostgreSQL, AWS, and React/Node.js. These tools maintain their leading positions in both current usage and future demand across nearly 19,000 survey respondents.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clear shift is underway in language preferences, with TypeScript, Go, and Rust gaining significant desired adoption while older languages like PHP, PowerShell, and Java are losing developer interest.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Rising tools </a:t>
            </a:r>
            <a:r>
              <a:rPr kumimoji="0" lang="en-US" altLang="en-US" sz="1800" b="0" i="0" u="none" strike="noStrike" cap="none" normalizeH="0" baseline="0" dirty="0">
                <a:ln>
                  <a:noFill/>
                </a:ln>
                <a:solidFill>
                  <a:schemeClr val="tx1"/>
                </a:solidFill>
                <a:effectLst/>
                <a:latin typeface="Arial" panose="020B0604020202020204" pitchFamily="34" charset="0"/>
              </a:rPr>
              <a:t>like </a:t>
            </a:r>
            <a:r>
              <a:rPr kumimoji="0" lang="en-US" altLang="en-US" sz="1800" b="0" i="0" u="none" strike="noStrike" cap="none" normalizeH="0" baseline="0" dirty="0" err="1">
                <a:ln>
                  <a:noFill/>
                </a:ln>
                <a:solidFill>
                  <a:schemeClr val="tx1"/>
                </a:solidFill>
                <a:effectLst/>
                <a:latin typeface="Arial" panose="020B0604020202020204" pitchFamily="34" charset="0"/>
              </a:rPr>
              <a:t>Supabase</a:t>
            </a:r>
            <a:r>
              <a:rPr kumimoji="0" lang="en-US" altLang="en-US" sz="1800" b="0" i="0" u="none" strike="noStrike" cap="none" normalizeH="0" baseline="0" dirty="0">
                <a:ln>
                  <a:noFill/>
                </a:ln>
                <a:solidFill>
                  <a:schemeClr val="tx1"/>
                </a:solidFill>
                <a:effectLst/>
                <a:latin typeface="Arial" panose="020B0604020202020204" pitchFamily="34" charset="0"/>
              </a:rPr>
              <a:t> and Redis signal a move toward lightweight, developer-friendly data solutions.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Cloud platforms remain heavily consolidated around AWS, Azure, and Google Cloud, but there are emerging providers like Cloudflare, Hetzner, and </a:t>
            </a:r>
            <a:r>
              <a:rPr kumimoji="0" lang="en-US" altLang="en-US" sz="1800" b="0" i="0" u="none" strike="noStrike" cap="none" normalizeH="0" baseline="0" dirty="0" err="1">
                <a:ln>
                  <a:noFill/>
                </a:ln>
                <a:solidFill>
                  <a:schemeClr val="tx1"/>
                </a:solidFill>
                <a:effectLst/>
                <a:latin typeface="Arial" panose="020B0604020202020204" pitchFamily="34" charset="0"/>
              </a:rPr>
              <a:t>Supabase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 survey's demographic skew toward 25–44-year-old, degree-holding developers in North America and Europe. These trends may not fully capture global or early-career developer preferences.</a:t>
            </a:r>
          </a:p>
        </p:txBody>
      </p:sp>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540458" y="2193478"/>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1162757" y="1264356"/>
            <a:ext cx="10191044" cy="49126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1800" dirty="0">
              <a:solidFill>
                <a:schemeClr val="tx1"/>
              </a:solidFill>
            </a:endParaRPr>
          </a:p>
        </p:txBody>
      </p:sp>
      <p:sp>
        <p:nvSpPr>
          <p:cNvPr id="7" name="Rectangle 2">
            <a:extLst>
              <a:ext uri="{FF2B5EF4-FFF2-40B4-BE49-F238E27FC236}">
                <a16:creationId xmlns:a16="http://schemas.microsoft.com/office/drawing/2014/main" id="{C6D66CBC-06D7-4988-6795-B9FA985860FF}"/>
              </a:ext>
            </a:extLst>
          </p:cNvPr>
          <p:cNvSpPr>
            <a:spLocks noChangeArrowheads="1"/>
          </p:cNvSpPr>
          <p:nvPr/>
        </p:nvSpPr>
        <p:spPr bwMode="auto">
          <a:xfrm rot="10800000" flipV="1">
            <a:off x="3791658" y="1775290"/>
            <a:ext cx="818444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report analyzes Stack Overflow developer survey data from nearly 19,000 respondents to identify the most widely used and desired technologies across programming languages, databases, cloud platforms, and web frameworks.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compares current use against future demand to surface emerging trends, declining technologies, and areas of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target audience is leaders</a:t>
            </a:r>
            <a:r>
              <a:rPr lang="en-US" altLang="en-US" dirty="0">
                <a:latin typeface="Arial" panose="020B0604020202020204" pitchFamily="34" charset="0"/>
              </a:rPr>
              <a:t> and</a:t>
            </a:r>
            <a:r>
              <a:rPr kumimoji="0" lang="en-US" altLang="en-US" sz="1800" b="0" i="0" u="none" strike="noStrike" cap="none" normalizeH="0" baseline="0" dirty="0">
                <a:ln>
                  <a:noFill/>
                </a:ln>
                <a:solidFill>
                  <a:schemeClr val="tx1"/>
                </a:solidFill>
                <a:effectLst/>
                <a:latin typeface="Arial" panose="020B0604020202020204" pitchFamily="34" charset="0"/>
              </a:rPr>
              <a:t> hiring managers who need data-driven insights to guide stack selection and investment decisions.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By highlighting the gap between what developers use today and what they want to use next, this report provides actionable intelligence for organizations seeking to modernize their technology stack and remain competitive in attracting developer talent.</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681037"/>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t>Data Source and Collection</a:t>
            </a:r>
          </a:p>
          <a:p>
            <a:r>
              <a:rPr lang="en-US" sz="2200" dirty="0"/>
              <a:t>The data was sourced from Course Era at </a:t>
            </a:r>
          </a:p>
          <a:p>
            <a:pPr marL="0" indent="0">
              <a:buNone/>
            </a:pPr>
            <a:endParaRPr lang="en-US" sz="2200" dirty="0"/>
          </a:p>
          <a:p>
            <a:r>
              <a:rPr lang="en-US" sz="2200" dirty="0"/>
              <a:t>Data was collected using web scraping techniques to generate Excel and CSV files</a:t>
            </a:r>
          </a:p>
          <a:p>
            <a:pPr marL="0" indent="0">
              <a:buNone/>
            </a:pPr>
            <a:r>
              <a:rPr lang="en-US" sz="2200" dirty="0"/>
              <a:t> Data Wrangling</a:t>
            </a:r>
          </a:p>
          <a:p>
            <a:r>
              <a:rPr lang="en-US" sz="2200" dirty="0"/>
              <a:t>Data cleaning and processing done through identifying and imputing missing values, identifying repeat entries, normalizing data, and encoding.</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
        <p:nvSpPr>
          <p:cNvPr id="5" name="Rectangle 2">
            <a:extLst>
              <a:ext uri="{FF2B5EF4-FFF2-40B4-BE49-F238E27FC236}">
                <a16:creationId xmlns:a16="http://schemas.microsoft.com/office/drawing/2014/main" id="{6589B3D9-1699-91CE-C1FF-72EAE2B26AB6}"/>
              </a:ext>
            </a:extLst>
          </p:cNvPr>
          <p:cNvSpPr>
            <a:spLocks noChangeArrowheads="1"/>
          </p:cNvSpPr>
          <p:nvPr/>
        </p:nvSpPr>
        <p:spPr bwMode="auto">
          <a:xfrm>
            <a:off x="4630908" y="2435063"/>
            <a:ext cx="58465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Arial" panose="020B0604020202020204" pitchFamily="34" charset="0"/>
              </a:rPr>
              <a:t> </a:t>
            </a:r>
            <a:r>
              <a:rPr kumimoji="0" lang="en-US" altLang="en-US" sz="1200" b="0" i="0" u="none" strike="noStrike" cap="none" normalizeH="0" baseline="0" dirty="0">
                <a:ln>
                  <a:noFill/>
                </a:ln>
                <a:effectLst/>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https://cf-courses-data.s3.us.cloud-object-storage.appdomain.cloud/HLOosvsPgIwt5dgOOh1RSg/survey-data-updated.csv</a:t>
            </a:r>
            <a:endParaRPr kumimoji="0" lang="en-US" altLang="en-US" sz="2800" b="0" i="0" u="none" strike="noStrike" cap="none" normalizeH="0" baseline="0" dirty="0">
              <a:ln>
                <a:noFill/>
              </a:ln>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E000DDB6-5B82-F3F8-80C1-FE555825BAF5}"/>
              </a:ext>
            </a:extLst>
          </p:cNvPr>
          <p:cNvSpPr txBox="1">
            <a:spLocks/>
          </p:cNvSpPr>
          <p:nvPr/>
        </p:nvSpPr>
        <p:spPr>
          <a:xfrm>
            <a:off x="4285075" y="1680153"/>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id="{1D5615A7-55B9-E0F5-0A84-57A35A57B0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9468" y="2101175"/>
            <a:ext cx="2972979" cy="2972979"/>
          </a:xfrm>
          <a:prstGeom prst="rect">
            <a:avLst/>
          </a:prstGeom>
        </p:spPr>
      </p:pic>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a:t>In Module 1 you have collected the job posting data using Job API in a file named “</a:t>
            </a:r>
            <a:r>
              <a:rPr lang="en-IN" sz="2400"/>
              <a:t>job-postings.xlsx</a:t>
            </a:r>
            <a:r>
              <a:rPr lang="en-US" sz="2200"/>
              <a:t>”. Present that data using a bar chart here. Order the bar chart in the descending order of the number of job postings.</a:t>
            </a:r>
            <a:endParaRPr lang="en-US" sz="2200" dirty="0"/>
          </a:p>
        </p:txBody>
      </p:sp>
      <p:pic>
        <p:nvPicPr>
          <p:cNvPr id="3" name="Picture 2">
            <a:extLst>
              <a:ext uri="{FF2B5EF4-FFF2-40B4-BE49-F238E27FC236}">
                <a16:creationId xmlns:a16="http://schemas.microsoft.com/office/drawing/2014/main" id="{D34D9B41-A15E-46F0-BD47-B7BC7112F947}"/>
              </a:ext>
            </a:extLst>
          </p:cNvPr>
          <p:cNvPicPr>
            <a:picLocks noChangeAspect="1"/>
          </p:cNvPicPr>
          <p:nvPr/>
        </p:nvPicPr>
        <p:blipFill>
          <a:blip r:embed="rId3"/>
          <a:stretch>
            <a:fillRect/>
          </a:stretch>
        </p:blipFill>
        <p:spPr>
          <a:xfrm>
            <a:off x="914400" y="1550958"/>
            <a:ext cx="10363200" cy="5117174"/>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758536" y="383051"/>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a:t>In Module 1 you have collected the job postings data using web scraping in a file named “</a:t>
            </a:r>
            <a:r>
              <a:rPr lang="en-IN" sz="2400"/>
              <a:t>popular-languages.csv</a:t>
            </a:r>
            <a:r>
              <a:rPr lang="en-US" sz="2200"/>
              <a:t>”. Present that data using a bar chart here. Order the bar chart in the descending order of salary.</a:t>
            </a:r>
            <a:endParaRPr lang="en-US" sz="2200" dirty="0"/>
          </a:p>
        </p:txBody>
      </p:sp>
      <p:pic>
        <p:nvPicPr>
          <p:cNvPr id="3" name="Picture 2">
            <a:extLst>
              <a:ext uri="{FF2B5EF4-FFF2-40B4-BE49-F238E27FC236}">
                <a16:creationId xmlns:a16="http://schemas.microsoft.com/office/drawing/2014/main" id="{E98915BF-618D-EF6B-E15C-CEA9D6271FB2}"/>
              </a:ext>
            </a:extLst>
          </p:cNvPr>
          <p:cNvPicPr>
            <a:picLocks noChangeAspect="1"/>
          </p:cNvPicPr>
          <p:nvPr/>
        </p:nvPicPr>
        <p:blipFill>
          <a:blip r:embed="rId3"/>
          <a:stretch>
            <a:fillRect/>
          </a:stretch>
        </p:blipFill>
        <p:spPr>
          <a:xfrm>
            <a:off x="598836" y="1621016"/>
            <a:ext cx="10714859" cy="4853933"/>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a:off x="845473"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&lt;Bar chart of top 10 programming languages for the current year goes here.&gt;</a:t>
            </a:r>
          </a:p>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605804"/>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programming languages for the next year goes here.&gt;</a:t>
            </a:r>
          </a:p>
        </p:txBody>
      </p:sp>
      <p:sp>
        <p:nvSpPr>
          <p:cNvPr id="3" name="TextBox 2">
            <a:extLst>
              <a:ext uri="{FF2B5EF4-FFF2-40B4-BE49-F238E27FC236}">
                <a16:creationId xmlns:a16="http://schemas.microsoft.com/office/drawing/2014/main"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sp>
        <p:nvSpPr>
          <p:cNvPr id="2" name="TextBox 1">
            <a:extLst>
              <a:ext uri="{FF2B5EF4-FFF2-40B4-BE49-F238E27FC236}">
                <a16:creationId xmlns:a16="http://schemas.microsoft.com/office/drawing/2014/main" id="{67E78677-F8F2-0DC2-F3F0-F287C0B3C18A}"/>
              </a:ext>
            </a:extLst>
          </p:cNvPr>
          <p:cNvSpPr txBox="1"/>
          <p:nvPr/>
        </p:nvSpPr>
        <p:spPr>
          <a:xfrm>
            <a:off x="2317531" y="-725214"/>
            <a:ext cx="184731" cy="369332"/>
          </a:xfrm>
          <a:prstGeom prst="rect">
            <a:avLst/>
          </a:prstGeom>
          <a:noFill/>
        </p:spPr>
        <p:txBody>
          <a:bodyPr wrap="none" rtlCol="0">
            <a:spAutoFit/>
          </a:bodyPr>
          <a:lstStyle/>
          <a:p>
            <a:endParaRPr lang="en-US"/>
          </a:p>
        </p:txBody>
      </p:sp>
      <p:pic>
        <p:nvPicPr>
          <p:cNvPr id="5" name="Picture 4">
            <a:extLst>
              <a:ext uri="{FF2B5EF4-FFF2-40B4-BE49-F238E27FC236}">
                <a16:creationId xmlns:a16="http://schemas.microsoft.com/office/drawing/2014/main" id="{E50C6875-F1CF-217D-765D-EFBDE76DE93D}"/>
              </a:ext>
            </a:extLst>
          </p:cNvPr>
          <p:cNvPicPr>
            <a:picLocks noChangeAspect="1"/>
          </p:cNvPicPr>
          <p:nvPr/>
        </p:nvPicPr>
        <p:blipFill>
          <a:blip r:embed="rId3"/>
          <a:srcRect l="-134" t="-476" r="50440" b="51626"/>
          <a:stretch>
            <a:fillRect/>
          </a:stretch>
        </p:blipFill>
        <p:spPr>
          <a:xfrm>
            <a:off x="845473" y="2428226"/>
            <a:ext cx="5058365" cy="3729332"/>
          </a:xfrm>
          <a:prstGeom prst="rect">
            <a:avLst/>
          </a:prstGeom>
        </p:spPr>
      </p:pic>
      <p:pic>
        <p:nvPicPr>
          <p:cNvPr id="12" name="Picture 11">
            <a:extLst>
              <a:ext uri="{FF2B5EF4-FFF2-40B4-BE49-F238E27FC236}">
                <a16:creationId xmlns:a16="http://schemas.microsoft.com/office/drawing/2014/main" id="{C9B238E5-FD2B-D514-26BC-1D61CE2F1ECC}"/>
              </a:ext>
            </a:extLst>
          </p:cNvPr>
          <p:cNvPicPr>
            <a:picLocks noChangeAspect="1"/>
          </p:cNvPicPr>
          <p:nvPr/>
        </p:nvPicPr>
        <p:blipFill>
          <a:blip r:embed="rId4"/>
          <a:stretch>
            <a:fillRect/>
          </a:stretch>
        </p:blipFill>
        <p:spPr>
          <a:xfrm>
            <a:off x="6206591" y="2483812"/>
            <a:ext cx="5433000" cy="3792293"/>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normAutofit fontScale="70000" lnSpcReduction="20000"/>
          </a:bodyPr>
          <a:lstStyle/>
          <a:p>
            <a:pPr marL="0" indent="0">
              <a:buNone/>
            </a:pPr>
            <a:r>
              <a:rPr lang="en-US" b="1" dirty="0"/>
              <a:t>FINDINGS</a:t>
            </a:r>
            <a:endParaRPr lang="en-US" dirty="0"/>
          </a:p>
          <a:p>
            <a:r>
              <a:rPr lang="en-US" dirty="0"/>
              <a:t>JavaScript remains the most used and most desired language</a:t>
            </a:r>
          </a:p>
          <a:p>
            <a:r>
              <a:rPr lang="en-US" dirty="0"/>
              <a:t>TypeScript sees the largest jump, going from 4th to 3rd and nearly closing the gap with SQL and HTML/CSS.</a:t>
            </a:r>
          </a:p>
          <a:p>
            <a:r>
              <a:rPr lang="en-US" dirty="0"/>
              <a:t>Go and Rust enter the desired top 10, replacing PHP and PowerShell</a:t>
            </a:r>
          </a:p>
          <a:p>
            <a:r>
              <a:rPr lang="en-US" dirty="0"/>
              <a:t>Java drops significantly (by almost 2,000 responses)</a:t>
            </a:r>
          </a:p>
          <a:p>
            <a:endParaRPr lang="en-US"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normAutofit fontScale="70000" lnSpcReduction="20000"/>
          </a:bodyPr>
          <a:lstStyle/>
          <a:p>
            <a:pPr marL="0" indent="0">
              <a:buNone/>
            </a:pPr>
            <a:r>
              <a:rPr lang="en-US" b="1" dirty="0"/>
              <a:t>IMPLICATIONS</a:t>
            </a:r>
            <a:endParaRPr lang="en-US" dirty="0"/>
          </a:p>
          <a:p>
            <a:r>
              <a:rPr lang="en-US" dirty="0"/>
              <a:t>The surge in TypeScript demand alongside steady JavaScript usage suggests developers increasingly want type safety. Teams should consider TypeScript adoption.</a:t>
            </a:r>
          </a:p>
          <a:p>
            <a:r>
              <a:rPr lang="en-US" dirty="0"/>
              <a:t>Go and Rust replacing PHP and PowerShell signals a shift toward performance focused, modern systems languages. Organizations relying heavily on PHP or PowerShell may face growing difficulty recruiting developers.</a:t>
            </a:r>
          </a:p>
          <a:p>
            <a:r>
              <a:rPr lang="en-US" dirty="0"/>
              <a:t>Java's decline in desirability suggests that people are eager to move on. Companies with large Java codebases should plan for modernization to keep developers happy.</a:t>
            </a:r>
          </a:p>
          <a:p>
            <a:pPr marL="0" indent="0">
              <a:buNone/>
            </a:pPr>
            <a:endParaRPr lang="en-US" dirty="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2065128"/>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2065127"/>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13816" y="275893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current year goes here &gt;</a:t>
            </a: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695286"/>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next year goes here.&gt;</a:t>
            </a:r>
          </a:p>
        </p:txBody>
      </p:sp>
      <p:sp>
        <p:nvSpPr>
          <p:cNvPr id="7" name="TextBox 6">
            <a:extLst>
              <a:ext uri="{FF2B5EF4-FFF2-40B4-BE49-F238E27FC236}">
                <a16:creationId xmlns:a16="http://schemas.microsoft.com/office/drawing/2014/main"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pic>
        <p:nvPicPr>
          <p:cNvPr id="9" name="Picture 8">
            <a:extLst>
              <a:ext uri="{FF2B5EF4-FFF2-40B4-BE49-F238E27FC236}">
                <a16:creationId xmlns:a16="http://schemas.microsoft.com/office/drawing/2014/main" id="{1263B79A-0CF3-CCC6-F2D3-DC28CA04F076}"/>
              </a:ext>
            </a:extLst>
          </p:cNvPr>
          <p:cNvPicPr>
            <a:picLocks noChangeAspect="1"/>
          </p:cNvPicPr>
          <p:nvPr/>
        </p:nvPicPr>
        <p:blipFill>
          <a:blip r:embed="rId4"/>
          <a:srcRect l="48913" t="1" b="49337"/>
          <a:stretch>
            <a:fillRect/>
          </a:stretch>
        </p:blipFill>
        <p:spPr>
          <a:xfrm>
            <a:off x="881252" y="2575069"/>
            <a:ext cx="4683407" cy="3483405"/>
          </a:xfrm>
          <a:prstGeom prst="rect">
            <a:avLst/>
          </a:prstGeom>
        </p:spPr>
      </p:pic>
      <p:pic>
        <p:nvPicPr>
          <p:cNvPr id="11" name="Picture 10">
            <a:extLst>
              <a:ext uri="{FF2B5EF4-FFF2-40B4-BE49-F238E27FC236}">
                <a16:creationId xmlns:a16="http://schemas.microsoft.com/office/drawing/2014/main" id="{3491C07D-740C-F595-E87A-9FC4567E8E14}"/>
              </a:ext>
            </a:extLst>
          </p:cNvPr>
          <p:cNvPicPr>
            <a:picLocks noChangeAspect="1"/>
          </p:cNvPicPr>
          <p:nvPr/>
        </p:nvPicPr>
        <p:blipFill>
          <a:blip r:embed="rId5"/>
          <a:stretch>
            <a:fillRect/>
          </a:stretch>
        </p:blipFill>
        <p:spPr>
          <a:xfrm>
            <a:off x="6096000" y="2567067"/>
            <a:ext cx="5198852" cy="3491408"/>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734786" y="572944"/>
            <a:ext cx="11457214" cy="975302"/>
          </a:xfrm>
        </p:spPr>
        <p:txBody>
          <a:bodyPr>
            <a:normAutofit fontScale="90000"/>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normAutofit fontScale="62500" lnSpcReduction="20000"/>
          </a:bodyPr>
          <a:lstStyle/>
          <a:p>
            <a:r>
              <a:rPr lang="en-US" b="1" dirty="0"/>
              <a:t>FINDINGS</a:t>
            </a:r>
            <a:endParaRPr lang="en-US" dirty="0"/>
          </a:p>
          <a:p>
            <a:r>
              <a:rPr lang="en-US" dirty="0"/>
              <a:t>PostgreSQL is the clear leader in both current usage and future desire, and is the only database whose desired count actually exceeds its current usage.</a:t>
            </a:r>
          </a:p>
          <a:p>
            <a:r>
              <a:rPr lang="en-US" dirty="0"/>
              <a:t>Redis makes the biggest jump, rising from 6th in current usage to 2nd in desired.</a:t>
            </a:r>
          </a:p>
          <a:p>
            <a:r>
              <a:rPr lang="en-US" dirty="0"/>
              <a:t>Oracle drops out of the desired top 10 entirely, replaced by </a:t>
            </a:r>
            <a:r>
              <a:rPr lang="en-US" dirty="0" err="1"/>
              <a:t>Supabase</a:t>
            </a:r>
            <a:r>
              <a:rPr lang="en-US" dirty="0"/>
              <a:t>,  a newer, open-source platform built on PostgreSQL.</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normAutofit fontScale="62500" lnSpcReduction="20000"/>
          </a:bodyPr>
          <a:lstStyle/>
          <a:p>
            <a:r>
              <a:rPr lang="en-US" b="1" dirty="0"/>
              <a:t>IMPLICATIONS</a:t>
            </a:r>
            <a:endParaRPr lang="en-US" dirty="0"/>
          </a:p>
          <a:p>
            <a:r>
              <a:rPr lang="en-US" dirty="0"/>
              <a:t>PostgreSQL's dominance suggests it has become the default choice for new projects. Teams still using MySQL or SQL Server should evaluate PostgreSQL for future work to align with developer expectations.</a:t>
            </a:r>
          </a:p>
          <a:p>
            <a:r>
              <a:rPr lang="en-US" dirty="0"/>
              <a:t>Redis's surge in demand shows the growing need for caching, real-time data, and high-performance data layers in modern architectures. Investing in Redis expertise can prove valuable.</a:t>
            </a:r>
          </a:p>
          <a:p>
            <a:r>
              <a:rPr lang="en-US" dirty="0"/>
              <a:t>Oracle being replaced by </a:t>
            </a:r>
            <a:r>
              <a:rPr lang="en-US" dirty="0" err="1"/>
              <a:t>Supabase</a:t>
            </a:r>
            <a:r>
              <a:rPr lang="en-US" dirty="0"/>
              <a:t> in the desired list signals developers favoring open-source, developer-friendly tools over enterprise databases. Organizations should assess whether modern alternatives could reduce costs and improve developer satisfaction.</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Screenshot of dashboard tab 1 goes here</a:t>
            </a:r>
          </a:p>
          <a:p>
            <a:r>
              <a:rPr lang="en-US" dirty="0"/>
              <a:t>Dashboard Insight</a:t>
            </a:r>
          </a:p>
          <a:p>
            <a:r>
              <a:rPr lang="en-US" dirty="0"/>
              <a:t>Summarize key insights shown</a:t>
            </a:r>
          </a:p>
          <a:p>
            <a:pPr marL="0" indent="0">
              <a:buNone/>
            </a:pPr>
            <a:endParaRPr lang="en-US" dirty="0"/>
          </a:p>
        </p:txBody>
      </p:sp>
      <p:grpSp>
        <p:nvGrpSpPr>
          <p:cNvPr id="10" name="Group 9">
            <a:extLst>
              <a:ext uri="{FF2B5EF4-FFF2-40B4-BE49-F238E27FC236}">
                <a16:creationId xmlns:a16="http://schemas.microsoft.com/office/drawing/2014/main" id="{1AB5EF32-4B42-4D09-F63D-0EDCDF6BFF47}"/>
              </a:ext>
            </a:extLst>
          </p:cNvPr>
          <p:cNvGrpSpPr/>
          <p:nvPr/>
        </p:nvGrpSpPr>
        <p:grpSpPr>
          <a:xfrm>
            <a:off x="838200" y="1512712"/>
            <a:ext cx="10394549" cy="4980164"/>
            <a:chOff x="2382301" y="532786"/>
            <a:chExt cx="7772400" cy="5829300"/>
          </a:xfrm>
        </p:grpSpPr>
        <p:pic>
          <p:nvPicPr>
            <p:cNvPr id="9" name="Picture 8">
              <a:extLst>
                <a:ext uri="{FF2B5EF4-FFF2-40B4-BE49-F238E27FC236}">
                  <a16:creationId xmlns:a16="http://schemas.microsoft.com/office/drawing/2014/main" id="{1AFC319E-35D1-A5EC-AA94-44D3D5B83FFE}"/>
                </a:ext>
              </a:extLst>
            </p:cNvPr>
            <p:cNvPicPr>
              <a:picLocks noChangeAspect="1"/>
            </p:cNvPicPr>
            <p:nvPr/>
          </p:nvPicPr>
          <p:blipFill>
            <a:blip r:embed="rId3"/>
            <a:stretch>
              <a:fillRect/>
            </a:stretch>
          </p:blipFill>
          <p:spPr>
            <a:xfrm>
              <a:off x="2382301" y="532786"/>
              <a:ext cx="7772400" cy="5829300"/>
            </a:xfrm>
            <a:prstGeom prst="rect">
              <a:avLst/>
            </a:prstGeom>
          </p:spPr>
        </p:pic>
        <p:pic>
          <p:nvPicPr>
            <p:cNvPr id="7" name="Picture 6">
              <a:extLst>
                <a:ext uri="{FF2B5EF4-FFF2-40B4-BE49-F238E27FC236}">
                  <a16:creationId xmlns:a16="http://schemas.microsoft.com/office/drawing/2014/main" id="{E5A38EB2-BFBE-82CE-A022-02F2A2124D24}"/>
                </a:ext>
              </a:extLst>
            </p:cNvPr>
            <p:cNvPicPr>
              <a:picLocks noChangeAspect="1"/>
            </p:cNvPicPr>
            <p:nvPr/>
          </p:nvPicPr>
          <p:blipFill>
            <a:blip r:embed="rId4"/>
            <a:stretch>
              <a:fillRect/>
            </a:stretch>
          </p:blipFill>
          <p:spPr>
            <a:xfrm>
              <a:off x="2386937" y="3429000"/>
              <a:ext cx="3709063" cy="2896214"/>
            </a:xfrm>
            <a:prstGeom prst="rect">
              <a:avLst/>
            </a:prstGeom>
          </p:spPr>
        </p:pic>
        <p:pic>
          <p:nvPicPr>
            <p:cNvPr id="5" name="Picture 4">
              <a:extLst>
                <a:ext uri="{FF2B5EF4-FFF2-40B4-BE49-F238E27FC236}">
                  <a16:creationId xmlns:a16="http://schemas.microsoft.com/office/drawing/2014/main" id="{8F7AC20D-F4D9-0A47-5E50-5656A644547D}"/>
                </a:ext>
              </a:extLst>
            </p:cNvPr>
            <p:cNvPicPr>
              <a:picLocks noChangeAspect="1"/>
            </p:cNvPicPr>
            <p:nvPr/>
          </p:nvPicPr>
          <p:blipFill>
            <a:blip r:embed="rId5"/>
            <a:stretch>
              <a:fillRect/>
            </a:stretch>
          </p:blipFill>
          <p:spPr>
            <a:xfrm>
              <a:off x="6284483" y="3429000"/>
              <a:ext cx="3870218" cy="2896214"/>
            </a:xfrm>
            <a:prstGeom prst="rect">
              <a:avLst/>
            </a:prstGeom>
          </p:spPr>
        </p:pic>
      </p:grpSp>
    </p:spTree>
    <p:custDataLst>
      <p:tags r:id="rId1"/>
    </p:custDataLst>
    <p:extLst>
      <p:ext uri="{BB962C8B-B14F-4D97-AF65-F5344CB8AC3E}">
        <p14:creationId xmlns:p14="http://schemas.microsoft.com/office/powerpoint/2010/main" val="242973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727364" y="531380"/>
            <a:ext cx="11055926" cy="1016866"/>
          </a:xfrm>
        </p:spPr>
        <p:txBody>
          <a:bodyPr anchor="ctr">
            <a:normAutofit fontScale="90000"/>
          </a:bodyPr>
          <a:lstStyle/>
          <a:p>
            <a:r>
              <a:rPr lang="en-US" dirty="0"/>
              <a:t>DASHBOARD TAB 2: Future Technology Trends</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Screenshot of dashboard tab 2 goes here</a:t>
            </a:r>
          </a:p>
          <a:p>
            <a:r>
              <a:rPr lang="en-US" dirty="0"/>
              <a:t>Dashboard Insight</a:t>
            </a:r>
          </a:p>
          <a:p>
            <a:r>
              <a:rPr lang="en-US" dirty="0"/>
              <a:t>Summarize future trends.</a:t>
            </a:r>
          </a:p>
          <a:p>
            <a:pPr marL="0" indent="0">
              <a:buNone/>
            </a:pPr>
            <a:endParaRPr lang="en-US" dirty="0"/>
          </a:p>
        </p:txBody>
      </p:sp>
      <p:grpSp>
        <p:nvGrpSpPr>
          <p:cNvPr id="10" name="Group 9">
            <a:extLst>
              <a:ext uri="{FF2B5EF4-FFF2-40B4-BE49-F238E27FC236}">
                <a16:creationId xmlns:a16="http://schemas.microsoft.com/office/drawing/2014/main" id="{D874CAA0-C98D-A190-762D-CA67813A2099}"/>
              </a:ext>
            </a:extLst>
          </p:cNvPr>
          <p:cNvGrpSpPr/>
          <p:nvPr/>
        </p:nvGrpSpPr>
        <p:grpSpPr>
          <a:xfrm>
            <a:off x="838200" y="1459067"/>
            <a:ext cx="9062667" cy="5207632"/>
            <a:chOff x="1855574" y="531380"/>
            <a:chExt cx="7772400" cy="5838422"/>
          </a:xfrm>
        </p:grpSpPr>
        <p:pic>
          <p:nvPicPr>
            <p:cNvPr id="9" name="Picture 8">
              <a:extLst>
                <a:ext uri="{FF2B5EF4-FFF2-40B4-BE49-F238E27FC236}">
                  <a16:creationId xmlns:a16="http://schemas.microsoft.com/office/drawing/2014/main" id="{B19E3806-26F0-AFAF-0A26-592592100AF6}"/>
                </a:ext>
              </a:extLst>
            </p:cNvPr>
            <p:cNvPicPr>
              <a:picLocks noChangeAspect="1"/>
            </p:cNvPicPr>
            <p:nvPr/>
          </p:nvPicPr>
          <p:blipFill>
            <a:blip r:embed="rId3"/>
            <a:stretch>
              <a:fillRect/>
            </a:stretch>
          </p:blipFill>
          <p:spPr>
            <a:xfrm>
              <a:off x="1855574" y="531380"/>
              <a:ext cx="7772400" cy="5838422"/>
            </a:xfrm>
            <a:prstGeom prst="rect">
              <a:avLst/>
            </a:prstGeom>
          </p:spPr>
        </p:pic>
        <p:pic>
          <p:nvPicPr>
            <p:cNvPr id="5" name="Picture 4">
              <a:extLst>
                <a:ext uri="{FF2B5EF4-FFF2-40B4-BE49-F238E27FC236}">
                  <a16:creationId xmlns:a16="http://schemas.microsoft.com/office/drawing/2014/main" id="{60EF26A6-E0AA-5225-EA9B-5E5A7CEFCCBE}"/>
                </a:ext>
              </a:extLst>
            </p:cNvPr>
            <p:cNvPicPr>
              <a:picLocks noChangeAspect="1"/>
            </p:cNvPicPr>
            <p:nvPr/>
          </p:nvPicPr>
          <p:blipFill>
            <a:blip r:embed="rId4"/>
            <a:stretch>
              <a:fillRect/>
            </a:stretch>
          </p:blipFill>
          <p:spPr>
            <a:xfrm>
              <a:off x="1855574" y="3472181"/>
              <a:ext cx="3886200" cy="2854439"/>
            </a:xfrm>
            <a:prstGeom prst="rect">
              <a:avLst/>
            </a:prstGeom>
          </p:spPr>
        </p:pic>
        <p:pic>
          <p:nvPicPr>
            <p:cNvPr id="7" name="Picture 6">
              <a:extLst>
                <a:ext uri="{FF2B5EF4-FFF2-40B4-BE49-F238E27FC236}">
                  <a16:creationId xmlns:a16="http://schemas.microsoft.com/office/drawing/2014/main" id="{0656A733-C810-D37E-4CEB-D4D6E630021E}"/>
                </a:ext>
              </a:extLst>
            </p:cNvPr>
            <p:cNvPicPr>
              <a:picLocks noChangeAspect="1"/>
            </p:cNvPicPr>
            <p:nvPr/>
          </p:nvPicPr>
          <p:blipFill>
            <a:blip r:embed="rId5"/>
            <a:stretch>
              <a:fillRect/>
            </a:stretch>
          </p:blipFill>
          <p:spPr>
            <a:xfrm>
              <a:off x="5741773" y="3428999"/>
              <a:ext cx="3855681" cy="2897621"/>
            </a:xfrm>
            <a:prstGeom prst="rect">
              <a:avLst/>
            </a:prstGeom>
          </p:spPr>
        </p:pic>
      </p:grpSp>
    </p:spTree>
    <p:custDataLst>
      <p:tags r:id="rId1"/>
    </p:custDataLst>
    <p:extLst>
      <p:ext uri="{BB962C8B-B14F-4D97-AF65-F5344CB8AC3E}">
        <p14:creationId xmlns:p14="http://schemas.microsoft.com/office/powerpoint/2010/main" val="2048496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sz="half" idx="1"/>
          </p:nvPr>
        </p:nvSpPr>
        <p:spPr>
          <a:xfrm>
            <a:off x="838200" y="1690688"/>
            <a:ext cx="10515600" cy="4351338"/>
          </a:xfrm>
        </p:spPr>
        <p:txBody>
          <a:bodyPr/>
          <a:lstStyle/>
          <a:p>
            <a:pPr marL="0" indent="0">
              <a:buNone/>
            </a:pPr>
            <a:endParaRPr lang="en-US" dirty="0"/>
          </a:p>
          <a:p>
            <a:pPr marL="0" indent="0">
              <a:buNone/>
            </a:pPr>
            <a:r>
              <a:rPr lang="en-US" dirty="0"/>
              <a:t>Screenshot of dashboard tab 3 goes here</a:t>
            </a:r>
          </a:p>
          <a:p>
            <a:r>
              <a:rPr lang="en-US" dirty="0"/>
              <a:t>Dashboard Insight</a:t>
            </a:r>
          </a:p>
          <a:p>
            <a:r>
              <a:rPr lang="en-IN" dirty="0"/>
              <a:t>Summarize demographic insights</a:t>
            </a:r>
            <a:endParaRPr lang="en-US" dirty="0"/>
          </a:p>
        </p:txBody>
      </p:sp>
      <p:grpSp>
        <p:nvGrpSpPr>
          <p:cNvPr id="8" name="Group 7">
            <a:extLst>
              <a:ext uri="{FF2B5EF4-FFF2-40B4-BE49-F238E27FC236}">
                <a16:creationId xmlns:a16="http://schemas.microsoft.com/office/drawing/2014/main" id="{EE880266-B82D-5BAD-63B5-9D404BA430E1}"/>
              </a:ext>
            </a:extLst>
          </p:cNvPr>
          <p:cNvGrpSpPr/>
          <p:nvPr/>
        </p:nvGrpSpPr>
        <p:grpSpPr>
          <a:xfrm>
            <a:off x="587860" y="1382264"/>
            <a:ext cx="8454539" cy="5292520"/>
            <a:chOff x="635000" y="365125"/>
            <a:chExt cx="7772400" cy="5824728"/>
          </a:xfrm>
        </p:grpSpPr>
        <p:pic>
          <p:nvPicPr>
            <p:cNvPr id="7" name="Picture 6">
              <a:extLst>
                <a:ext uri="{FF2B5EF4-FFF2-40B4-BE49-F238E27FC236}">
                  <a16:creationId xmlns:a16="http://schemas.microsoft.com/office/drawing/2014/main" id="{5EA71AC3-735E-CB24-1680-406CC825EC87}"/>
                </a:ext>
              </a:extLst>
            </p:cNvPr>
            <p:cNvPicPr>
              <a:picLocks noChangeAspect="1"/>
            </p:cNvPicPr>
            <p:nvPr/>
          </p:nvPicPr>
          <p:blipFill>
            <a:blip r:embed="rId3"/>
            <a:stretch>
              <a:fillRect/>
            </a:stretch>
          </p:blipFill>
          <p:spPr>
            <a:xfrm>
              <a:off x="635000" y="365125"/>
              <a:ext cx="7772400" cy="5824728"/>
            </a:xfrm>
            <a:prstGeom prst="rect">
              <a:avLst/>
            </a:prstGeom>
          </p:spPr>
        </p:pic>
        <p:pic>
          <p:nvPicPr>
            <p:cNvPr id="5" name="Picture 4">
              <a:extLst>
                <a:ext uri="{FF2B5EF4-FFF2-40B4-BE49-F238E27FC236}">
                  <a16:creationId xmlns:a16="http://schemas.microsoft.com/office/drawing/2014/main" id="{B5D5E0FC-1E9F-41D5-4EFA-19F6CD01492E}"/>
                </a:ext>
              </a:extLst>
            </p:cNvPr>
            <p:cNvPicPr>
              <a:picLocks noChangeAspect="1"/>
            </p:cNvPicPr>
            <p:nvPr/>
          </p:nvPicPr>
          <p:blipFill>
            <a:blip r:embed="rId4"/>
            <a:stretch>
              <a:fillRect/>
            </a:stretch>
          </p:blipFill>
          <p:spPr>
            <a:xfrm>
              <a:off x="4520302" y="365125"/>
              <a:ext cx="3887098" cy="3063875"/>
            </a:xfrm>
            <a:prstGeom prst="rect">
              <a:avLst/>
            </a:prstGeom>
          </p:spPr>
        </p:pic>
      </p:grpSp>
    </p:spTree>
    <p:custDataLst>
      <p:tags r:id="rId1"/>
    </p:custDataLst>
    <p:extLst>
      <p:ext uri="{BB962C8B-B14F-4D97-AF65-F5344CB8AC3E}">
        <p14:creationId xmlns:p14="http://schemas.microsoft.com/office/powerpoint/2010/main" val="2405636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5" name="Rectangle 1">
            <a:extLst>
              <a:ext uri="{FF2B5EF4-FFF2-40B4-BE49-F238E27FC236}">
                <a16:creationId xmlns:a16="http://schemas.microsoft.com/office/drawing/2014/main" id="{3D02F333-F3CA-524F-E3E0-408374AC56F0}"/>
              </a:ext>
            </a:extLst>
          </p:cNvPr>
          <p:cNvSpPr>
            <a:spLocks noGrp="1" noChangeArrowheads="1"/>
          </p:cNvSpPr>
          <p:nvPr>
            <p:ph sz="half" idx="2"/>
          </p:nvPr>
        </p:nvSpPr>
        <p:spPr bwMode="auto">
          <a:xfrm>
            <a:off x="5081588" y="2132181"/>
            <a:ext cx="636111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technology landscape is consolidating around a small set of dominant tools such a JavaScript, PostgreSQL, AWS, and React that show no signs of being replaced.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However, a clear second wave of modern alternatives like TypeScript, Rust, Go, and Redis is rapidly gaining developer interest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biggest shifts between current and desired usage reflect developer frustration with legacy tools.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consistent theme across all four technology categories is that developer experience is winning. </a:t>
            </a:r>
            <a:r>
              <a:rPr lang="en-US" altLang="en-US" sz="1800" dirty="0">
                <a:solidFill>
                  <a:schemeClr val="tx1"/>
                </a:solidFill>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he tools gaining ground prioritize simplicity, performance, and modern ergonomics over raw feature sets or size.</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13816" y="1825625"/>
            <a:ext cx="5181600" cy="4351338"/>
          </a:xfrm>
        </p:spPr>
        <p:txBody>
          <a:bodyPr>
            <a:normAutofit fontScale="55000" lnSpcReduction="20000"/>
          </a:bodyPr>
          <a:lstStyle/>
          <a:p>
            <a:pPr marL="0" indent="0">
              <a:buNone/>
            </a:pPr>
            <a:r>
              <a:rPr lang="en-US" b="1" dirty="0"/>
              <a:t>FINDINGS</a:t>
            </a:r>
            <a:endParaRPr lang="en-US" dirty="0"/>
          </a:p>
          <a:p>
            <a:r>
              <a:rPr lang="en-US" dirty="0"/>
              <a:t>JavaScript, PostgreSQL, AWS, and React/Node.js are the dominant technologies across all four categories, and all maintain their top positions in both current usage and desired future adoption indicating these are deeply entrenched industry standards.</a:t>
            </a:r>
          </a:p>
          <a:p>
            <a:r>
              <a:rPr lang="en-US" dirty="0"/>
              <a:t>Developer demand is shifting toward modern, performance-focused languages such as TypeScript, Go, and Rust. Redis and </a:t>
            </a:r>
            <a:r>
              <a:rPr lang="en-US" dirty="0" err="1"/>
              <a:t>Supabase</a:t>
            </a:r>
            <a:r>
              <a:rPr lang="en-US" dirty="0"/>
              <a:t> are gaining in databases. </a:t>
            </a:r>
            <a:r>
              <a:rPr lang="en-US" dirty="0" err="1"/>
              <a:t>FastAPI</a:t>
            </a:r>
            <a:r>
              <a:rPr lang="en-US" dirty="0"/>
              <a:t> and Svelte are emerging in frameworks. All at the expense of older technologies like PHP, jQuery, and Oracle.</a:t>
            </a:r>
          </a:p>
          <a:p>
            <a:r>
              <a:rPr lang="en-US" dirty="0"/>
              <a:t>The survey population is heavily concentrated among 25–44-year-old, Bachelor's-degree-holding developers in North America and Europe, meaning these technology preferences are skewed to represent a specific demographic rather than the global developer community.</a:t>
            </a:r>
          </a:p>
          <a:p>
            <a:r>
              <a:rPr lang="en-US" dirty="0"/>
              <a:t>PostgreSQL is the only technology across all categories where desired usage actually exceeds current usage, suggesting it is still actively gaining adopters</a:t>
            </a:r>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172200" y="1825625"/>
            <a:ext cx="5181600" cy="4351338"/>
          </a:xfrm>
        </p:spPr>
        <p:txBody>
          <a:bodyPr>
            <a:normAutofit fontScale="55000" lnSpcReduction="20000"/>
          </a:bodyPr>
          <a:lstStyle/>
          <a:p>
            <a:r>
              <a:rPr lang="en-US" b="1" dirty="0"/>
              <a:t>IMPLICATIONS</a:t>
            </a:r>
            <a:endParaRPr lang="en-US" dirty="0"/>
          </a:p>
          <a:p>
            <a:r>
              <a:rPr lang="en-US" dirty="0"/>
              <a:t>The stability of JavaScript, PostgreSQL, AWS, and React at the top of both current and desired lists means organizations can confidently invest in these as long-term foundational technologies. They carry the lowest risk of becoming obsolete in the near future.</a:t>
            </a:r>
          </a:p>
          <a:p>
            <a:r>
              <a:rPr lang="en-US" dirty="0"/>
              <a:t>The consistent pattern of newer, developer-friendly tools displacing legacy technologies signals that developer experience and modern tooling are becoming key factors in technology selection. Companies sticking to older software risk falling behind in both productivity and talent acquisition.</a:t>
            </a:r>
          </a:p>
          <a:p>
            <a:r>
              <a:rPr lang="en-US" dirty="0"/>
              <a:t>The demographic concentration means these trends are most reliable for Western, mid-career developer teams. Companies hiring in underrepresented regions or targeting junior/senior developers should confirm these findings with local market data before making strategic decisions.</a:t>
            </a:r>
          </a:p>
          <a:p>
            <a:r>
              <a:rPr lang="en-US" dirty="0"/>
              <a:t>The gap between "currently using" and ”desired" across most technologies reveals a workforce eager to modernize. </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rot="10800000">
            <a:off x="6241434" y="4848618"/>
            <a:ext cx="3986400" cy="5583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endParaRPr lang="en-US" dirty="0"/>
          </a:p>
        </p:txBody>
      </p:sp>
      <p:sp>
        <p:nvSpPr>
          <p:cNvPr id="3" name="Rectangle 2">
            <a:extLst>
              <a:ext uri="{FF2B5EF4-FFF2-40B4-BE49-F238E27FC236}">
                <a16:creationId xmlns:a16="http://schemas.microsoft.com/office/drawing/2014/main" id="{5189F150-02EC-942D-741E-4447A77CBEEB}"/>
              </a:ext>
            </a:extLst>
          </p:cNvPr>
          <p:cNvSpPr>
            <a:spLocks noChangeArrowheads="1"/>
          </p:cNvSpPr>
          <p:nvPr/>
        </p:nvSpPr>
        <p:spPr bwMode="auto">
          <a:xfrm rot="10800000" flipV="1">
            <a:off x="3928633" y="1968558"/>
            <a:ext cx="7137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Organizations should treat JavaScript, PostgreSQL, AWS, and React as safe long-term investments given their stability at the top of both current and desired rankings, while building internal capacity in rising technologies like TypeScript, Go, and Rust to stay competitive.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E</a:t>
            </a:r>
            <a:r>
              <a:rPr kumimoji="0" lang="en-US" altLang="en-US" sz="1800" b="0" i="0" u="none" strike="noStrike" cap="none" normalizeH="0" baseline="0" dirty="0">
                <a:ln>
                  <a:noFill/>
                </a:ln>
                <a:solidFill>
                  <a:schemeClr val="tx1"/>
                </a:solidFill>
                <a:effectLst/>
                <a:latin typeface="Arial" panose="020B0604020202020204" pitchFamily="34" charset="0"/>
              </a:rPr>
              <a:t>ase of use and modern tooling are now decisive factors in technology adoption and talent retention.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Companies that proactively create opportunities for developers to work with their desired technologies will have an advantage in hiring and retaining talent.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These findings should be interpreted with the survey's demographic in mind. Organizations operating outside of North America and Europe should supplement this data with region-specific research.</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889</TotalTime>
  <Words>1438</Words>
  <Application>Microsoft Macintosh PowerPoint</Application>
  <PresentationFormat>Widescreen</PresentationFormat>
  <Paragraphs>112</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Helv</vt:lpstr>
      <vt:lpstr>IBM Plex Mono</vt:lpstr>
      <vt:lpstr>IBM Plex Mono Medium</vt:lpstr>
      <vt:lpstr>IBM Plex Sans</vt:lpstr>
      <vt:lpstr>IBM Plex Sans SemiBold</vt:lpstr>
      <vt:lpstr>SLIDE_TEMPLATE_skill_network</vt:lpstr>
      <vt:lpstr>Software Trends Analysis</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vt:lpstr>
      <vt:lpstr>DASHBOARD TAB 1: Current Technology Usage</vt:lpstr>
      <vt:lpstr>DASHBOARD TAB 2: Future Technology Trends</vt:lpstr>
      <vt:lpstr>DASHBOARD TAB 3: Demographics</vt:lpstr>
      <vt:lpstr>DISCUSSION</vt:lpstr>
      <vt:lpstr>OVERALL FINDINGS &amp; IMPLICATIONS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Rithik Ganesan</cp:lastModifiedBy>
  <cp:revision>11</cp:revision>
  <dcterms:created xsi:type="dcterms:W3CDTF">2024-10-30T05:40:03Z</dcterms:created>
  <dcterms:modified xsi:type="dcterms:W3CDTF">2026-04-09T20:59:32Z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